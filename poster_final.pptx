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21383625"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5DA"/>
    <a:srgbClr val="572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F6AF2B-2950-C46E-F391-7AD9E7FB4FCC}" v="3237" dt="2026-02-25T20:14:02.4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464" y="-15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en-GB"/>
              <a:t>Click to edit Master title style</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60BC2A36-4833-4F94-98C9-9A04AFB66017}" type="datetimeFigureOut">
              <a:rPr lang="en-GB" smtClean="0"/>
              <a:t>04/03/2026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2986684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0BC2A36-4833-4F94-98C9-9A04AFB66017}" type="datetimeFigureOut">
              <a:rPr lang="en-GB" smtClean="0"/>
              <a:t>04/03/2026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2003460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en-GB"/>
              <a:t>Click to edit Master title style</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tint val="82000"/>
                  </a:schemeClr>
                </a:solidFill>
              </a:defRPr>
            </a:lvl1pPr>
            <a:lvl2pPr marL="1069162" indent="0">
              <a:buNone/>
              <a:defRPr sz="4677">
                <a:solidFill>
                  <a:schemeClr val="tx1">
                    <a:tint val="82000"/>
                  </a:schemeClr>
                </a:solidFill>
              </a:defRPr>
            </a:lvl2pPr>
            <a:lvl3pPr marL="2138324" indent="0">
              <a:buNone/>
              <a:defRPr sz="4209">
                <a:solidFill>
                  <a:schemeClr val="tx1">
                    <a:tint val="82000"/>
                  </a:schemeClr>
                </a:solidFill>
              </a:defRPr>
            </a:lvl3pPr>
            <a:lvl4pPr marL="3207487" indent="0">
              <a:buNone/>
              <a:defRPr sz="3742">
                <a:solidFill>
                  <a:schemeClr val="tx1">
                    <a:tint val="82000"/>
                  </a:schemeClr>
                </a:solidFill>
              </a:defRPr>
            </a:lvl4pPr>
            <a:lvl5pPr marL="4276649" indent="0">
              <a:buNone/>
              <a:defRPr sz="3742">
                <a:solidFill>
                  <a:schemeClr val="tx1">
                    <a:tint val="82000"/>
                  </a:schemeClr>
                </a:solidFill>
              </a:defRPr>
            </a:lvl5pPr>
            <a:lvl6pPr marL="5345811" indent="0">
              <a:buNone/>
              <a:defRPr sz="3742">
                <a:solidFill>
                  <a:schemeClr val="tx1">
                    <a:tint val="82000"/>
                  </a:schemeClr>
                </a:solidFill>
              </a:defRPr>
            </a:lvl6pPr>
            <a:lvl7pPr marL="6414973" indent="0">
              <a:buNone/>
              <a:defRPr sz="3742">
                <a:solidFill>
                  <a:schemeClr val="tx1">
                    <a:tint val="82000"/>
                  </a:schemeClr>
                </a:solidFill>
              </a:defRPr>
            </a:lvl7pPr>
            <a:lvl8pPr marL="7484135" indent="0">
              <a:buNone/>
              <a:defRPr sz="3742">
                <a:solidFill>
                  <a:schemeClr val="tx1">
                    <a:tint val="82000"/>
                  </a:schemeClr>
                </a:solidFill>
              </a:defRPr>
            </a:lvl8pPr>
            <a:lvl9pPr marL="8553298" indent="0">
              <a:buNone/>
              <a:defRPr sz="3742">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0BC2A36-4833-4F94-98C9-9A04AFB66017}" type="datetimeFigureOut">
              <a:rPr lang="en-GB" smtClean="0"/>
              <a:t>04/03/2026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4212360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60BC2A36-4833-4F94-98C9-9A04AFB66017}" type="datetimeFigureOut">
              <a:rPr lang="en-GB" smtClean="0"/>
              <a:t>04/03/2026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1744676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GB"/>
              <a:t>Click to edit Master text styles</a:t>
            </a:r>
          </a:p>
        </p:txBody>
      </p:sp>
      <p:sp>
        <p:nvSpPr>
          <p:cNvPr id="4" name="Content Placeholder 3"/>
          <p:cNvSpPr>
            <a:spLocks noGrp="1"/>
          </p:cNvSpPr>
          <p:nvPr>
            <p:ph sz="half" idx="2"/>
          </p:nvPr>
        </p:nvSpPr>
        <p:spPr>
          <a:xfrm>
            <a:off x="1472912" y="11058863"/>
            <a:ext cx="9046274"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GB"/>
              <a:t>Click to edit Master text styles</a:t>
            </a:r>
          </a:p>
        </p:txBody>
      </p:sp>
      <p:sp>
        <p:nvSpPr>
          <p:cNvPr id="6" name="Content Placeholder 5"/>
          <p:cNvSpPr>
            <a:spLocks noGrp="1"/>
          </p:cNvSpPr>
          <p:nvPr>
            <p:ph sz="quarter" idx="4"/>
          </p:nvPr>
        </p:nvSpPr>
        <p:spPr>
          <a:xfrm>
            <a:off x="10825461" y="11058863"/>
            <a:ext cx="9090826"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0BC2A36-4833-4F94-98C9-9A04AFB66017}" type="datetimeFigureOut">
              <a:rPr lang="en-GB" smtClean="0"/>
              <a:t>04/03/2026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2599712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60BC2A36-4833-4F94-98C9-9A04AFB66017}" type="datetimeFigureOut">
              <a:rPr lang="en-GB" smtClean="0"/>
              <a:t>04/03/2026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1979996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BC2A36-4833-4F94-98C9-9A04AFB66017}" type="datetimeFigureOut">
              <a:rPr lang="en-GB" smtClean="0"/>
              <a:t>04/03/2026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2184463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GB"/>
              <a:t>Click to edit Master title style</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GB"/>
              <a:t>Click to edit Master text styles</a:t>
            </a:r>
          </a:p>
        </p:txBody>
      </p:sp>
      <p:sp>
        <p:nvSpPr>
          <p:cNvPr id="5" name="Date Placeholder 4"/>
          <p:cNvSpPr>
            <a:spLocks noGrp="1"/>
          </p:cNvSpPr>
          <p:nvPr>
            <p:ph type="dt" sz="half" idx="10"/>
          </p:nvPr>
        </p:nvSpPr>
        <p:spPr/>
        <p:txBody>
          <a:bodyPr/>
          <a:lstStyle/>
          <a:p>
            <a:fld id="{60BC2A36-4833-4F94-98C9-9A04AFB66017}" type="datetimeFigureOut">
              <a:rPr lang="en-GB" smtClean="0"/>
              <a:t>04/03/2026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3135186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GB"/>
              <a:t>Click to edit Master title style</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GB"/>
              <a:t>Click icon to add picture</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GB"/>
              <a:t>Click to edit Master text styles</a:t>
            </a:r>
          </a:p>
        </p:txBody>
      </p:sp>
      <p:sp>
        <p:nvSpPr>
          <p:cNvPr id="5" name="Date Placeholder 4"/>
          <p:cNvSpPr>
            <a:spLocks noGrp="1"/>
          </p:cNvSpPr>
          <p:nvPr>
            <p:ph type="dt" sz="half" idx="10"/>
          </p:nvPr>
        </p:nvSpPr>
        <p:spPr/>
        <p:txBody>
          <a:bodyPr/>
          <a:lstStyle/>
          <a:p>
            <a:fld id="{60BC2A36-4833-4F94-98C9-9A04AFB66017}" type="datetimeFigureOut">
              <a:rPr lang="en-GB" smtClean="0"/>
              <a:t>04/03/2026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40656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0BC2A36-4833-4F94-98C9-9A04AFB66017}" type="datetimeFigureOut">
              <a:rPr lang="en-GB" smtClean="0"/>
              <a:t>04/03/2026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3469448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0BC2A36-4833-4F94-98C9-9A04AFB66017}" type="datetimeFigureOut">
              <a:rPr lang="en-GB" smtClean="0"/>
              <a:t>04/03/2026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832573-B97D-47F7-A573-C59CD87E21C9}" type="slidenum">
              <a:rPr lang="en-GB" smtClean="0"/>
              <a:t>‹#›</a:t>
            </a:fld>
            <a:endParaRPr lang="en-GB"/>
          </a:p>
        </p:txBody>
      </p:sp>
    </p:spTree>
    <p:extLst>
      <p:ext uri="{BB962C8B-B14F-4D97-AF65-F5344CB8AC3E}">
        <p14:creationId xmlns:p14="http://schemas.microsoft.com/office/powerpoint/2010/main" val="3746328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82000"/>
                  </a:schemeClr>
                </a:solidFill>
              </a:defRPr>
            </a:lvl1pPr>
          </a:lstStyle>
          <a:p>
            <a:fld id="{60BC2A36-4833-4F94-98C9-9A04AFB66017}" type="datetimeFigureOut">
              <a:rPr lang="en-GB" smtClean="0"/>
              <a:t>04/03/2026</a:t>
            </a:fld>
            <a:endParaRPr lang="en-GB"/>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82000"/>
                  </a:schemeClr>
                </a:solidFill>
              </a:defRPr>
            </a:lvl1pPr>
          </a:lstStyle>
          <a:p>
            <a:fld id="{0A832573-B97D-47F7-A573-C59CD87E21C9}" type="slidenum">
              <a:rPr lang="en-GB" smtClean="0"/>
              <a:t>‹#›</a:t>
            </a:fld>
            <a:endParaRPr lang="en-GB"/>
          </a:p>
        </p:txBody>
      </p:sp>
    </p:spTree>
    <p:extLst>
      <p:ext uri="{BB962C8B-B14F-4D97-AF65-F5344CB8AC3E}">
        <p14:creationId xmlns:p14="http://schemas.microsoft.com/office/powerpoint/2010/main" val="27478046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fashn.ai/research/vton-1-5" TargetMode="External"/><Relationship Id="rId7" Type="http://schemas.openxmlformats.org/officeDocument/2006/relationships/image" Target="../media/image3.png"/><Relationship Id="rId2" Type="http://schemas.openxmlformats.org/officeDocument/2006/relationships/hyperlink" Target="https://klodsy.com/blog/virtual-models-for-fashion-sellers/" TargetMode="Externa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github.com/ultralytics/ultralytics" TargetMode="Externa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20FA2E-AD0D-BBD0-754F-FB77974732BD}"/>
              </a:ext>
            </a:extLst>
          </p:cNvPr>
          <p:cNvSpPr/>
          <p:nvPr/>
        </p:nvSpPr>
        <p:spPr>
          <a:xfrm>
            <a:off x="437469" y="261257"/>
            <a:ext cx="20508686" cy="2743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 name="Group 7">
            <a:extLst>
              <a:ext uri="{FF2B5EF4-FFF2-40B4-BE49-F238E27FC236}">
                <a16:creationId xmlns:a16="http://schemas.microsoft.com/office/drawing/2014/main" id="{07294BDE-F830-B89E-3640-70F7BBFD23A4}"/>
              </a:ext>
            </a:extLst>
          </p:cNvPr>
          <p:cNvGrpSpPr/>
          <p:nvPr/>
        </p:nvGrpSpPr>
        <p:grpSpPr>
          <a:xfrm>
            <a:off x="608484" y="3657600"/>
            <a:ext cx="9778187" cy="6746861"/>
            <a:chOff x="566057" y="3657600"/>
            <a:chExt cx="9056914" cy="6662057"/>
          </a:xfrm>
        </p:grpSpPr>
        <p:sp>
          <p:nvSpPr>
            <p:cNvPr id="5" name="Rectangle 4">
              <a:extLst>
                <a:ext uri="{FF2B5EF4-FFF2-40B4-BE49-F238E27FC236}">
                  <a16:creationId xmlns:a16="http://schemas.microsoft.com/office/drawing/2014/main" id="{3332996E-1F5E-7F96-F337-2A612FCCA8A5}"/>
                </a:ext>
              </a:extLst>
            </p:cNvPr>
            <p:cNvSpPr/>
            <p:nvPr/>
          </p:nvSpPr>
          <p:spPr>
            <a:xfrm>
              <a:off x="566057" y="3657600"/>
              <a:ext cx="9056914" cy="6662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E094348-13B3-024D-E49B-4723D28223DC}"/>
                </a:ext>
              </a:extLst>
            </p:cNvPr>
            <p:cNvSpPr/>
            <p:nvPr/>
          </p:nvSpPr>
          <p:spPr>
            <a:xfrm>
              <a:off x="566057" y="3657600"/>
              <a:ext cx="9056914" cy="1262743"/>
            </a:xfrm>
            <a:prstGeom prst="rect">
              <a:avLst/>
            </a:prstGeom>
            <a:solidFill>
              <a:srgbClr val="3A55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200" b="1" dirty="0"/>
                <a:t>Introduction</a:t>
              </a:r>
            </a:p>
          </p:txBody>
        </p:sp>
      </p:grpSp>
      <p:grpSp>
        <p:nvGrpSpPr>
          <p:cNvPr id="9" name="Group 8">
            <a:extLst>
              <a:ext uri="{FF2B5EF4-FFF2-40B4-BE49-F238E27FC236}">
                <a16:creationId xmlns:a16="http://schemas.microsoft.com/office/drawing/2014/main" id="{C7C9870C-3BD8-14B6-5F59-43D11A746671}"/>
              </a:ext>
            </a:extLst>
          </p:cNvPr>
          <p:cNvGrpSpPr/>
          <p:nvPr/>
        </p:nvGrpSpPr>
        <p:grpSpPr>
          <a:xfrm>
            <a:off x="604866" y="10537551"/>
            <a:ext cx="9735760" cy="12678173"/>
            <a:chOff x="566057" y="3657600"/>
            <a:chExt cx="9056914" cy="6662057"/>
          </a:xfrm>
        </p:grpSpPr>
        <p:sp>
          <p:nvSpPr>
            <p:cNvPr id="10" name="Rectangle 9">
              <a:extLst>
                <a:ext uri="{FF2B5EF4-FFF2-40B4-BE49-F238E27FC236}">
                  <a16:creationId xmlns:a16="http://schemas.microsoft.com/office/drawing/2014/main" id="{D63E9653-A4DA-7AA8-A5BD-EE4C4BCCF015}"/>
                </a:ext>
              </a:extLst>
            </p:cNvPr>
            <p:cNvSpPr/>
            <p:nvPr/>
          </p:nvSpPr>
          <p:spPr>
            <a:xfrm>
              <a:off x="566057" y="3657600"/>
              <a:ext cx="9056914" cy="6662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E0438F8B-0CB1-0A10-6B07-88C4B37DE5D6}"/>
                </a:ext>
              </a:extLst>
            </p:cNvPr>
            <p:cNvSpPr/>
            <p:nvPr/>
          </p:nvSpPr>
          <p:spPr>
            <a:xfrm>
              <a:off x="566057" y="3657600"/>
              <a:ext cx="9056914" cy="622555"/>
            </a:xfrm>
            <a:prstGeom prst="rect">
              <a:avLst/>
            </a:prstGeom>
            <a:solidFill>
              <a:srgbClr val="3A55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200" b="1" dirty="0"/>
                <a:t>Methodology</a:t>
              </a:r>
            </a:p>
          </p:txBody>
        </p:sp>
      </p:grpSp>
      <p:grpSp>
        <p:nvGrpSpPr>
          <p:cNvPr id="18" name="Group 17">
            <a:extLst>
              <a:ext uri="{FF2B5EF4-FFF2-40B4-BE49-F238E27FC236}">
                <a16:creationId xmlns:a16="http://schemas.microsoft.com/office/drawing/2014/main" id="{AF9E68CF-8E9F-8034-2A99-BC1B6B379D98}"/>
              </a:ext>
            </a:extLst>
          </p:cNvPr>
          <p:cNvGrpSpPr/>
          <p:nvPr/>
        </p:nvGrpSpPr>
        <p:grpSpPr>
          <a:xfrm>
            <a:off x="11000308" y="3640829"/>
            <a:ext cx="9947898" cy="13224400"/>
            <a:chOff x="566057" y="3657600"/>
            <a:chExt cx="9056914" cy="6395476"/>
          </a:xfrm>
        </p:grpSpPr>
        <p:sp>
          <p:nvSpPr>
            <p:cNvPr id="19" name="Rectangle 18">
              <a:extLst>
                <a:ext uri="{FF2B5EF4-FFF2-40B4-BE49-F238E27FC236}">
                  <a16:creationId xmlns:a16="http://schemas.microsoft.com/office/drawing/2014/main" id="{B7715BD8-E477-0334-81EB-AAB73824E137}"/>
                </a:ext>
              </a:extLst>
            </p:cNvPr>
            <p:cNvSpPr/>
            <p:nvPr/>
          </p:nvSpPr>
          <p:spPr>
            <a:xfrm>
              <a:off x="566057" y="3657600"/>
              <a:ext cx="9056914" cy="63954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A7EC1978-E946-6E2C-76DC-8532A7F6540C}"/>
                </a:ext>
              </a:extLst>
            </p:cNvPr>
            <p:cNvSpPr/>
            <p:nvPr/>
          </p:nvSpPr>
          <p:spPr>
            <a:xfrm>
              <a:off x="566057" y="3657600"/>
              <a:ext cx="9056914" cy="645074"/>
            </a:xfrm>
            <a:prstGeom prst="rect">
              <a:avLst/>
            </a:prstGeom>
            <a:solidFill>
              <a:srgbClr val="3A55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200" b="1" dirty="0"/>
                <a:t>Results </a:t>
              </a:r>
            </a:p>
          </p:txBody>
        </p:sp>
      </p:grpSp>
      <p:grpSp>
        <p:nvGrpSpPr>
          <p:cNvPr id="21" name="Group 20">
            <a:extLst>
              <a:ext uri="{FF2B5EF4-FFF2-40B4-BE49-F238E27FC236}">
                <a16:creationId xmlns:a16="http://schemas.microsoft.com/office/drawing/2014/main" id="{B143FE69-CA85-0277-C95D-1FB207055131}"/>
              </a:ext>
            </a:extLst>
          </p:cNvPr>
          <p:cNvGrpSpPr/>
          <p:nvPr/>
        </p:nvGrpSpPr>
        <p:grpSpPr>
          <a:xfrm>
            <a:off x="552730" y="25926945"/>
            <a:ext cx="20251787" cy="3728275"/>
            <a:chOff x="566057" y="2699656"/>
            <a:chExt cx="9056914" cy="7620001"/>
          </a:xfrm>
        </p:grpSpPr>
        <p:sp>
          <p:nvSpPr>
            <p:cNvPr id="22" name="Rectangle 21">
              <a:extLst>
                <a:ext uri="{FF2B5EF4-FFF2-40B4-BE49-F238E27FC236}">
                  <a16:creationId xmlns:a16="http://schemas.microsoft.com/office/drawing/2014/main" id="{0B8765F2-80B1-AEBD-E0E8-98297499869B}"/>
                </a:ext>
              </a:extLst>
            </p:cNvPr>
            <p:cNvSpPr/>
            <p:nvPr/>
          </p:nvSpPr>
          <p:spPr>
            <a:xfrm>
              <a:off x="566057" y="3657600"/>
              <a:ext cx="9056914" cy="6662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BE29C302-4557-B8A9-B610-B255806BCB62}"/>
                </a:ext>
              </a:extLst>
            </p:cNvPr>
            <p:cNvSpPr/>
            <p:nvPr/>
          </p:nvSpPr>
          <p:spPr>
            <a:xfrm>
              <a:off x="566057" y="2699656"/>
              <a:ext cx="9056914" cy="2220689"/>
            </a:xfrm>
            <a:prstGeom prst="rect">
              <a:avLst/>
            </a:prstGeom>
            <a:solidFill>
              <a:srgbClr val="3A55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200" b="1" dirty="0"/>
                <a:t>Conclusion</a:t>
              </a:r>
            </a:p>
          </p:txBody>
        </p:sp>
      </p:grpSp>
      <p:grpSp>
        <p:nvGrpSpPr>
          <p:cNvPr id="24" name="Group 23">
            <a:extLst>
              <a:ext uri="{FF2B5EF4-FFF2-40B4-BE49-F238E27FC236}">
                <a16:creationId xmlns:a16="http://schemas.microsoft.com/office/drawing/2014/main" id="{07541847-37E2-EC98-7C2B-A05FC840BB4F}"/>
              </a:ext>
            </a:extLst>
          </p:cNvPr>
          <p:cNvGrpSpPr/>
          <p:nvPr/>
        </p:nvGrpSpPr>
        <p:grpSpPr>
          <a:xfrm>
            <a:off x="568902" y="23333018"/>
            <a:ext cx="9815738" cy="2187765"/>
            <a:chOff x="566057" y="2699656"/>
            <a:chExt cx="9056914" cy="7620001"/>
          </a:xfrm>
        </p:grpSpPr>
        <p:sp>
          <p:nvSpPr>
            <p:cNvPr id="25" name="Rectangle 24">
              <a:extLst>
                <a:ext uri="{FF2B5EF4-FFF2-40B4-BE49-F238E27FC236}">
                  <a16:creationId xmlns:a16="http://schemas.microsoft.com/office/drawing/2014/main" id="{9F895974-161E-0FE5-B468-96F8AE528C8D}"/>
                </a:ext>
              </a:extLst>
            </p:cNvPr>
            <p:cNvSpPr/>
            <p:nvPr/>
          </p:nvSpPr>
          <p:spPr>
            <a:xfrm>
              <a:off x="566057" y="3657600"/>
              <a:ext cx="9056914" cy="6662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3111769E-FF9D-F727-2F94-311F37961162}"/>
                </a:ext>
              </a:extLst>
            </p:cNvPr>
            <p:cNvSpPr/>
            <p:nvPr/>
          </p:nvSpPr>
          <p:spPr>
            <a:xfrm>
              <a:off x="566057" y="2699656"/>
              <a:ext cx="9056914" cy="2220689"/>
            </a:xfrm>
            <a:prstGeom prst="rect">
              <a:avLst/>
            </a:prstGeom>
            <a:solidFill>
              <a:srgbClr val="3A55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5400" b="1" dirty="0"/>
                <a:t>References</a:t>
              </a:r>
            </a:p>
          </p:txBody>
        </p:sp>
      </p:grpSp>
      <p:sp>
        <p:nvSpPr>
          <p:cNvPr id="34" name="TextBox 33">
            <a:extLst>
              <a:ext uri="{FF2B5EF4-FFF2-40B4-BE49-F238E27FC236}">
                <a16:creationId xmlns:a16="http://schemas.microsoft.com/office/drawing/2014/main" id="{CD6262C9-A07D-63F9-0131-82EC0825FA10}"/>
              </a:ext>
            </a:extLst>
          </p:cNvPr>
          <p:cNvSpPr txBox="1"/>
          <p:nvPr/>
        </p:nvSpPr>
        <p:spPr>
          <a:xfrm>
            <a:off x="612497" y="4932882"/>
            <a:ext cx="9765951" cy="5632311"/>
          </a:xfrm>
          <a:prstGeom prst="rect">
            <a:avLst/>
          </a:prstGeom>
          <a:noFill/>
        </p:spPr>
        <p:txBody>
          <a:bodyPr wrap="square" lIns="91440" tIns="45720" rIns="91440" bIns="45720" rtlCol="0" anchor="t">
            <a:spAutoFit/>
          </a:bodyPr>
          <a:lstStyle/>
          <a:p>
            <a:r>
              <a:rPr lang="en-GB" sz="2400" dirty="0"/>
              <a:t>A large portion of the cost of marketing new clothing is the cost of contracting and taking photos of models with the product. It costs at least $500 [1] for just a single new product. This motivates the need for virtual try-on models, which allow image-to-image editing of a model with a new set of clothes, drastically reducing the overall cost. Advances in image generation have improved rapidly and can cut the cost down by 80-90%[1].</a:t>
            </a:r>
          </a:p>
          <a:p>
            <a:endParaRPr lang="en-GB" sz="2400" dirty="0"/>
          </a:p>
          <a:p>
            <a:r>
              <a:rPr lang="en-GB" sz="2400" dirty="0"/>
              <a:t>Nonetheless, this is still an emerging field and still has shortcomings that need to be addressed. One such problem is the focus on single-model images. While these models can excel at images with only a single subject, they struggle to generalise to multiple subjects, leading to complete failure of the models. This motivates our model for multi-subject VTON. Our demo is available at: https://huggingface.co/spaces/mvp-lab/VTON_TEST</a:t>
            </a:r>
          </a:p>
        </p:txBody>
      </p:sp>
      <p:grpSp>
        <p:nvGrpSpPr>
          <p:cNvPr id="35" name="Group 34">
            <a:extLst>
              <a:ext uri="{FF2B5EF4-FFF2-40B4-BE49-F238E27FC236}">
                <a16:creationId xmlns:a16="http://schemas.microsoft.com/office/drawing/2014/main" id="{618EE71F-B4D0-5186-836C-6DA35F7C67F0}"/>
              </a:ext>
            </a:extLst>
          </p:cNvPr>
          <p:cNvGrpSpPr/>
          <p:nvPr/>
        </p:nvGrpSpPr>
        <p:grpSpPr>
          <a:xfrm>
            <a:off x="10984812" y="17392942"/>
            <a:ext cx="9990325" cy="8091043"/>
            <a:chOff x="566057" y="3657600"/>
            <a:chExt cx="9056914" cy="6662057"/>
          </a:xfrm>
        </p:grpSpPr>
        <p:sp>
          <p:nvSpPr>
            <p:cNvPr id="36" name="Rectangle 35">
              <a:extLst>
                <a:ext uri="{FF2B5EF4-FFF2-40B4-BE49-F238E27FC236}">
                  <a16:creationId xmlns:a16="http://schemas.microsoft.com/office/drawing/2014/main" id="{4A4B7F53-929B-EB10-3D44-E62E5741EEF8}"/>
                </a:ext>
              </a:extLst>
            </p:cNvPr>
            <p:cNvSpPr/>
            <p:nvPr/>
          </p:nvSpPr>
          <p:spPr>
            <a:xfrm>
              <a:off x="566057" y="3657600"/>
              <a:ext cx="9056914" cy="6662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109A23DE-0BF2-3666-9261-84ACD2773662}"/>
                </a:ext>
              </a:extLst>
            </p:cNvPr>
            <p:cNvSpPr/>
            <p:nvPr/>
          </p:nvSpPr>
          <p:spPr>
            <a:xfrm>
              <a:off x="566057" y="3657600"/>
              <a:ext cx="9056914" cy="1262743"/>
            </a:xfrm>
            <a:prstGeom prst="rect">
              <a:avLst/>
            </a:prstGeom>
            <a:solidFill>
              <a:srgbClr val="3A55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200" b="1" dirty="0"/>
                <a:t>Discussion</a:t>
              </a:r>
            </a:p>
          </p:txBody>
        </p:sp>
      </p:grpSp>
      <p:sp>
        <p:nvSpPr>
          <p:cNvPr id="38" name="TextBox 37">
            <a:extLst>
              <a:ext uri="{FF2B5EF4-FFF2-40B4-BE49-F238E27FC236}">
                <a16:creationId xmlns:a16="http://schemas.microsoft.com/office/drawing/2014/main" id="{0F3D5473-B077-B94D-B30D-F86CD29B4CD9}"/>
              </a:ext>
            </a:extLst>
          </p:cNvPr>
          <p:cNvSpPr txBox="1"/>
          <p:nvPr/>
        </p:nvSpPr>
        <p:spPr>
          <a:xfrm>
            <a:off x="612943" y="11888139"/>
            <a:ext cx="9723495" cy="11449288"/>
          </a:xfrm>
          <a:prstGeom prst="rect">
            <a:avLst/>
          </a:prstGeom>
          <a:noFill/>
        </p:spPr>
        <p:txBody>
          <a:bodyPr wrap="square" lIns="91440" tIns="45720" rIns="91440" bIns="45720" rtlCol="0" anchor="t">
            <a:spAutoFit/>
          </a:bodyPr>
          <a:lstStyle/>
          <a:p>
            <a:pPr algn="ctr"/>
            <a:r>
              <a:rPr lang="en-GB" sz="2400" b="1" u="sng" dirty="0"/>
              <a:t>Model</a:t>
            </a:r>
            <a:endParaRPr lang="en-US" dirty="0"/>
          </a:p>
          <a:p>
            <a:r>
              <a:rPr lang="en-GB" sz="2400" dirty="0"/>
              <a:t>Building from the FASHN VTON v1.5 model [2] as a backbone, we incorporate subject detection and segmentation using the </a:t>
            </a:r>
            <a:r>
              <a:rPr lang="en-GB" sz="2400" dirty="0" err="1"/>
              <a:t>Ultralytics</a:t>
            </a:r>
            <a:r>
              <a:rPr lang="en-GB" sz="2400" dirty="0"/>
              <a:t> YOLO v8 model [3] to separate the original image into the individuals before processing separately and re-composing the completed image.</a:t>
            </a:r>
            <a:br>
              <a:rPr lang="en-GB" sz="2400"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br>
              <a:rPr lang="en-GB" sz="2400" b="1" u="sng" dirty="0"/>
            </a:br>
            <a:endParaRPr lang="en-GB" sz="2400" dirty="0"/>
          </a:p>
          <a:p>
            <a:r>
              <a:rPr lang="en-GB" sz="2400" dirty="0"/>
              <a:t>The people are first segmented by the YOLO v8 model, and the masks are used to separate each subject to their own image with a blank background. FASHN VTON v1.5 is run separately for each image, generating images of the people with the specified clothing. The images are processed at intersection boundaries to prevent the blank background leaking. The order of the subjects is then estimated heuristically based on the concavity or convexity of overlaps, and they are recomposed into the original image back-to-front to properly handle occlusion.</a:t>
            </a:r>
            <a:endParaRPr lang="en-GB" dirty="0"/>
          </a:p>
          <a:p>
            <a:endParaRPr lang="en-GB" dirty="0"/>
          </a:p>
        </p:txBody>
      </p:sp>
      <p:sp>
        <p:nvSpPr>
          <p:cNvPr id="43" name="Rectangle 42">
            <a:extLst>
              <a:ext uri="{FF2B5EF4-FFF2-40B4-BE49-F238E27FC236}">
                <a16:creationId xmlns:a16="http://schemas.microsoft.com/office/drawing/2014/main" id="{6B4FE55D-EBEF-DD68-90CE-CFD5C840E2B9}"/>
              </a:ext>
            </a:extLst>
          </p:cNvPr>
          <p:cNvSpPr/>
          <p:nvPr/>
        </p:nvSpPr>
        <p:spPr>
          <a:xfrm>
            <a:off x="437468" y="233334"/>
            <a:ext cx="20508685" cy="2743199"/>
          </a:xfrm>
          <a:prstGeom prst="rect">
            <a:avLst/>
          </a:prstGeom>
          <a:solidFill>
            <a:srgbClr val="3A55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7200" b="1" dirty="0"/>
              <a:t>Virtual Try-On System</a:t>
            </a:r>
          </a:p>
          <a:p>
            <a:pPr algn="ctr"/>
            <a:r>
              <a:rPr lang="en-GB" sz="2400" dirty="0"/>
              <a:t>By Francois Poh, Alexander Reade and Bortis Fedorov</a:t>
            </a:r>
          </a:p>
        </p:txBody>
      </p:sp>
      <p:sp>
        <p:nvSpPr>
          <p:cNvPr id="6" name="TextBox 5">
            <a:extLst>
              <a:ext uri="{FF2B5EF4-FFF2-40B4-BE49-F238E27FC236}">
                <a16:creationId xmlns:a16="http://schemas.microsoft.com/office/drawing/2014/main" id="{B911C6B4-CBF5-361B-45C8-1B4B542E483F}"/>
              </a:ext>
            </a:extLst>
          </p:cNvPr>
          <p:cNvSpPr txBox="1"/>
          <p:nvPr/>
        </p:nvSpPr>
        <p:spPr>
          <a:xfrm>
            <a:off x="740830" y="19625606"/>
            <a:ext cx="8577945" cy="461665"/>
          </a:xfrm>
          <a:prstGeom prst="rect">
            <a:avLst/>
          </a:prstGeom>
          <a:noFill/>
        </p:spPr>
        <p:txBody>
          <a:bodyPr wrap="square" lIns="91440" tIns="45720" rIns="91440" bIns="45720" rtlCol="0" anchor="t">
            <a:spAutoFit/>
          </a:bodyPr>
          <a:lstStyle/>
          <a:p>
            <a:endParaRPr lang="en-GB" sz="2400" dirty="0"/>
          </a:p>
        </p:txBody>
      </p:sp>
      <p:sp>
        <p:nvSpPr>
          <p:cNvPr id="12" name="TextBox 11">
            <a:extLst>
              <a:ext uri="{FF2B5EF4-FFF2-40B4-BE49-F238E27FC236}">
                <a16:creationId xmlns:a16="http://schemas.microsoft.com/office/drawing/2014/main" id="{CB9386E8-525A-A38C-B561-2D1A59350E3A}"/>
              </a:ext>
            </a:extLst>
          </p:cNvPr>
          <p:cNvSpPr txBox="1"/>
          <p:nvPr/>
        </p:nvSpPr>
        <p:spPr>
          <a:xfrm>
            <a:off x="698539" y="23982813"/>
            <a:ext cx="8577945" cy="1569660"/>
          </a:xfrm>
          <a:prstGeom prst="rect">
            <a:avLst/>
          </a:prstGeom>
          <a:noFill/>
        </p:spPr>
        <p:txBody>
          <a:bodyPr wrap="square" lIns="91440" tIns="45720" rIns="91440" bIns="45720" rtlCol="0" anchor="t">
            <a:spAutoFit/>
          </a:bodyPr>
          <a:lstStyle/>
          <a:p>
            <a:r>
              <a:rPr lang="en-GB" sz="2400">
                <a:ea typeface="+mn-lt"/>
                <a:cs typeface="+mn-lt"/>
              </a:rPr>
              <a:t>[1] </a:t>
            </a:r>
            <a:r>
              <a:rPr lang="en-GB" sz="2400" dirty="0">
                <a:ea typeface="+mn-lt"/>
                <a:cs typeface="+mn-lt"/>
                <a:hlinkClick r:id="rId2"/>
              </a:rPr>
              <a:t>https://klodsy.com/blog/virtual-models-for-fashion-sellers/</a:t>
            </a:r>
            <a:br>
              <a:rPr lang="en-GB" sz="2400" dirty="0">
                <a:ea typeface="+mn-lt"/>
                <a:cs typeface="+mn-lt"/>
              </a:rPr>
            </a:br>
            <a:r>
              <a:rPr lang="en-GB" sz="2400" dirty="0"/>
              <a:t>[2] </a:t>
            </a:r>
            <a:r>
              <a:rPr lang="en-GB" sz="2400" dirty="0">
                <a:ea typeface="+mn-lt"/>
                <a:cs typeface="+mn-lt"/>
                <a:hlinkClick r:id="rId3"/>
              </a:rPr>
              <a:t>https://fashn.ai/research/vton-1-5</a:t>
            </a:r>
            <a:endParaRPr lang="en-US"/>
          </a:p>
          <a:p>
            <a:r>
              <a:rPr lang="en-GB" sz="2400">
                <a:ea typeface="+mn-lt"/>
                <a:cs typeface="+mn-lt"/>
              </a:rPr>
              <a:t>[3] </a:t>
            </a:r>
            <a:r>
              <a:rPr lang="en-GB" sz="2400" dirty="0">
                <a:ea typeface="+mn-lt"/>
                <a:cs typeface="+mn-lt"/>
                <a:hlinkClick r:id="rId4"/>
              </a:rPr>
              <a:t>https://github.com/ultralytics/ultralytics</a:t>
            </a:r>
          </a:p>
          <a:p>
            <a:endParaRPr lang="en-GB" sz="2400" dirty="0">
              <a:ea typeface="+mn-lt"/>
              <a:cs typeface="+mn-lt"/>
            </a:endParaRPr>
          </a:p>
        </p:txBody>
      </p:sp>
      <p:sp>
        <p:nvSpPr>
          <p:cNvPr id="3" name="TextBox 2">
            <a:extLst>
              <a:ext uri="{FF2B5EF4-FFF2-40B4-BE49-F238E27FC236}">
                <a16:creationId xmlns:a16="http://schemas.microsoft.com/office/drawing/2014/main" id="{66D8A737-01EF-5D3F-319A-A38AFF1C3280}"/>
              </a:ext>
            </a:extLst>
          </p:cNvPr>
          <p:cNvSpPr txBox="1"/>
          <p:nvPr/>
        </p:nvSpPr>
        <p:spPr>
          <a:xfrm>
            <a:off x="612943" y="13747221"/>
            <a:ext cx="9723495" cy="1107996"/>
          </a:xfrm>
          <a:prstGeom prst="rect">
            <a:avLst/>
          </a:prstGeom>
          <a:noFill/>
        </p:spPr>
        <p:txBody>
          <a:bodyPr wrap="square" lIns="91440" tIns="45720" rIns="91440" bIns="45720" rtlCol="0" anchor="t">
            <a:spAutoFit/>
          </a:bodyPr>
          <a:lstStyle/>
          <a:p>
            <a:pPr algn="ctr"/>
            <a:r>
              <a:rPr lang="en-GB" sz="2400" b="1" u="sng" dirty="0"/>
              <a:t>Inference Pipeline</a:t>
            </a:r>
          </a:p>
          <a:p>
            <a:endParaRPr lang="en-GB" sz="2400" dirty="0"/>
          </a:p>
          <a:p>
            <a:endParaRPr lang="en-GB" dirty="0"/>
          </a:p>
        </p:txBody>
      </p:sp>
      <p:pic>
        <p:nvPicPr>
          <p:cNvPr id="14" name="Picture 13" descr="A group of men standing together&#10;&#10;AI-generated content may be incorrect.">
            <a:extLst>
              <a:ext uri="{FF2B5EF4-FFF2-40B4-BE49-F238E27FC236}">
                <a16:creationId xmlns:a16="http://schemas.microsoft.com/office/drawing/2014/main" id="{195DA83E-4B7E-C611-3E09-314E77E567BC}"/>
              </a:ext>
            </a:extLst>
          </p:cNvPr>
          <p:cNvPicPr>
            <a:picLocks noChangeAspect="1"/>
          </p:cNvPicPr>
          <p:nvPr/>
        </p:nvPicPr>
        <p:blipFill>
          <a:blip r:embed="rId5"/>
          <a:stretch>
            <a:fillRect/>
          </a:stretch>
        </p:blipFill>
        <p:spPr>
          <a:xfrm>
            <a:off x="11127257" y="12429023"/>
            <a:ext cx="4858859" cy="4437748"/>
          </a:xfrm>
          <a:prstGeom prst="rect">
            <a:avLst/>
          </a:prstGeom>
        </p:spPr>
      </p:pic>
      <p:pic>
        <p:nvPicPr>
          <p:cNvPr id="15" name="Picture 14" descr="A group of men posing for a photo&#10;&#10;AI-generated content may be incorrect.">
            <a:extLst>
              <a:ext uri="{FF2B5EF4-FFF2-40B4-BE49-F238E27FC236}">
                <a16:creationId xmlns:a16="http://schemas.microsoft.com/office/drawing/2014/main" id="{3CA0F411-AF22-6A2B-961F-B8FD837AFCE2}"/>
              </a:ext>
            </a:extLst>
          </p:cNvPr>
          <p:cNvPicPr>
            <a:picLocks noChangeAspect="1"/>
          </p:cNvPicPr>
          <p:nvPr/>
        </p:nvPicPr>
        <p:blipFill>
          <a:blip r:embed="rId6"/>
          <a:stretch>
            <a:fillRect/>
          </a:stretch>
        </p:blipFill>
        <p:spPr>
          <a:xfrm>
            <a:off x="11857080" y="4987791"/>
            <a:ext cx="3953812" cy="3723005"/>
          </a:xfrm>
          <a:prstGeom prst="rect">
            <a:avLst/>
          </a:prstGeom>
        </p:spPr>
      </p:pic>
      <p:pic>
        <p:nvPicPr>
          <p:cNvPr id="16" name="Picture 15" descr="A person in a black shirt&#10;&#10;AI-generated content may be incorrect.">
            <a:extLst>
              <a:ext uri="{FF2B5EF4-FFF2-40B4-BE49-F238E27FC236}">
                <a16:creationId xmlns:a16="http://schemas.microsoft.com/office/drawing/2014/main" id="{F90BE98B-EFDB-090B-ACAD-26285E70B72A}"/>
              </a:ext>
            </a:extLst>
          </p:cNvPr>
          <p:cNvPicPr>
            <a:picLocks noChangeAspect="1"/>
          </p:cNvPicPr>
          <p:nvPr/>
        </p:nvPicPr>
        <p:blipFill>
          <a:blip r:embed="rId7"/>
          <a:stretch>
            <a:fillRect/>
          </a:stretch>
        </p:blipFill>
        <p:spPr>
          <a:xfrm>
            <a:off x="17101120" y="5073557"/>
            <a:ext cx="2452668" cy="3637240"/>
          </a:xfrm>
          <a:prstGeom prst="rect">
            <a:avLst/>
          </a:prstGeom>
        </p:spPr>
      </p:pic>
      <p:sp>
        <p:nvSpPr>
          <p:cNvPr id="28" name="TextBox 27">
            <a:extLst>
              <a:ext uri="{FF2B5EF4-FFF2-40B4-BE49-F238E27FC236}">
                <a16:creationId xmlns:a16="http://schemas.microsoft.com/office/drawing/2014/main" id="{D1EEC70F-7F5B-0C90-1E9C-982B4848436A}"/>
              </a:ext>
            </a:extLst>
          </p:cNvPr>
          <p:cNvSpPr txBox="1"/>
          <p:nvPr/>
        </p:nvSpPr>
        <p:spPr>
          <a:xfrm>
            <a:off x="11126183" y="19083000"/>
            <a:ext cx="9723495" cy="6370975"/>
          </a:xfrm>
          <a:prstGeom prst="rect">
            <a:avLst/>
          </a:prstGeom>
          <a:noFill/>
        </p:spPr>
        <p:txBody>
          <a:bodyPr wrap="square" lIns="91440" tIns="45720" rIns="91440" bIns="45720" rtlCol="0" anchor="t">
            <a:spAutoFit/>
          </a:bodyPr>
          <a:lstStyle/>
          <a:p>
            <a:r>
              <a:rPr lang="en-GB" sz="2400" dirty="0"/>
              <a:t>While this approach shows that it is feasible to extend a pre-trained virtual try-on model to multiple subjects, several important limitations remain.</a:t>
            </a:r>
          </a:p>
          <a:p>
            <a:endParaRPr lang="en-GB" sz="2400" dirty="0"/>
          </a:p>
          <a:p>
            <a:pPr>
              <a:buFont typeface="Arial"/>
            </a:pPr>
            <a:r>
              <a:rPr lang="en-GB" sz="2400" dirty="0"/>
              <a:t>Firstly, the technique we apply here relies on an ordering of subjects to exist (i.e. back to font), however this assumption breaks down when they overlap, for example when linking arms. Such an image would require the model to either preserve the linked arm, or process both subjects in one pass, something the current model is incapable of.</a:t>
            </a:r>
          </a:p>
          <a:p>
            <a:pPr>
              <a:buFont typeface="Arial"/>
            </a:pPr>
            <a:endParaRPr lang="en-GB" sz="2400" dirty="0"/>
          </a:p>
          <a:p>
            <a:pPr>
              <a:buFont typeface="Arial"/>
            </a:pPr>
            <a:r>
              <a:rPr lang="en-GB" sz="2400" dirty="0"/>
              <a:t>Secondly, this method does not work if a subject is extremely occluded. While the FASHN VTON v1.5 model can handle some occlusion of body parts, such as parts of the arms, when too much of the subject is occluded, it does not know how to correctly predict the pose or extrapolate body parts, leading to incorrect generation of clothing.</a:t>
            </a:r>
          </a:p>
          <a:p>
            <a:pPr>
              <a:buFont typeface="Arial"/>
            </a:pPr>
            <a:endParaRPr lang="en-GB" sz="2400" dirty="0"/>
          </a:p>
          <a:p>
            <a:pPr>
              <a:buFont typeface="Arial"/>
            </a:pPr>
            <a:endParaRPr lang="en-GB" sz="2400" dirty="0"/>
          </a:p>
        </p:txBody>
      </p:sp>
      <p:sp>
        <p:nvSpPr>
          <p:cNvPr id="29" name="TextBox 28">
            <a:extLst>
              <a:ext uri="{FF2B5EF4-FFF2-40B4-BE49-F238E27FC236}">
                <a16:creationId xmlns:a16="http://schemas.microsoft.com/office/drawing/2014/main" id="{4047F0EC-B674-E577-7DE2-9EE617C6CDE7}"/>
              </a:ext>
            </a:extLst>
          </p:cNvPr>
          <p:cNvSpPr txBox="1"/>
          <p:nvPr/>
        </p:nvSpPr>
        <p:spPr>
          <a:xfrm>
            <a:off x="552289" y="27050766"/>
            <a:ext cx="20280500"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solidFill>
                  <a:srgbClr val="000000"/>
                </a:solidFill>
                <a:latin typeface="Calibri"/>
                <a:ea typeface="Calibri"/>
                <a:cs typeface="Calibri"/>
              </a:rPr>
              <a:t>While</a:t>
            </a:r>
            <a:r>
              <a:rPr lang="en-GB" sz="2400" b="0" i="0" u="none" strike="noStrike" baseline="0" dirty="0">
                <a:solidFill>
                  <a:srgbClr val="000000"/>
                </a:solidFill>
                <a:latin typeface="Calibri"/>
                <a:ea typeface="Calibri"/>
                <a:cs typeface="Calibri"/>
              </a:rPr>
              <a:t> this provides an inexpensive method to extend existing VTON models to multiple subjects, a more robust approach would require retraining with </a:t>
            </a:r>
            <a:r>
              <a:rPr lang="en-GB" sz="2400" dirty="0">
                <a:solidFill>
                  <a:srgbClr val="000000"/>
                </a:solidFill>
                <a:latin typeface="Calibri"/>
                <a:ea typeface="Calibri"/>
                <a:cs typeface="Calibri"/>
              </a:rPr>
              <a:t>the</a:t>
            </a:r>
            <a:r>
              <a:rPr lang="en-GB" sz="2400" b="0" i="0" u="none" strike="noStrike" baseline="0" dirty="0">
                <a:solidFill>
                  <a:srgbClr val="000000"/>
                </a:solidFill>
                <a:latin typeface="Calibri"/>
                <a:ea typeface="Calibri"/>
                <a:cs typeface="Calibri"/>
              </a:rPr>
              <a:t> </a:t>
            </a:r>
            <a:r>
              <a:rPr lang="en-GB" sz="2400" dirty="0">
                <a:solidFill>
                  <a:srgbClr val="000000"/>
                </a:solidFill>
                <a:latin typeface="Calibri"/>
                <a:ea typeface="Calibri"/>
                <a:cs typeface="Calibri"/>
              </a:rPr>
              <a:t>model's inherent limitations</a:t>
            </a:r>
            <a:r>
              <a:rPr lang="en-GB" sz="2400" b="0" i="0" u="none" strike="noStrike" baseline="0" dirty="0">
                <a:solidFill>
                  <a:srgbClr val="000000"/>
                </a:solidFill>
                <a:latin typeface="Calibri"/>
                <a:ea typeface="Calibri"/>
                <a:cs typeface="Calibri"/>
              </a:rPr>
              <a:t> in mind.</a:t>
            </a:r>
            <a:br>
              <a:rPr lang="en-GB" sz="2400" dirty="0">
                <a:solidFill>
                  <a:srgbClr val="000000"/>
                </a:solidFill>
                <a:latin typeface="Calibri"/>
                <a:ea typeface="Calibri"/>
                <a:cs typeface="Calibri"/>
              </a:rPr>
            </a:br>
            <a:br>
              <a:rPr lang="en-GB" sz="2400" dirty="0">
                <a:latin typeface="Calibri"/>
                <a:ea typeface="Calibri"/>
                <a:cs typeface="Calibri"/>
              </a:rPr>
            </a:br>
            <a:r>
              <a:rPr lang="en-GB" sz="2400" dirty="0">
                <a:latin typeface="Calibri"/>
                <a:ea typeface="Calibri"/>
                <a:cs typeface="Calibri"/>
              </a:rPr>
              <a:t>Further work with this method could also address the background artifacts that occur from this method. Parts of the original subjects may still be visible behind </a:t>
            </a:r>
            <a:r>
              <a:rPr lang="en-GB" sz="2400">
                <a:latin typeface="Calibri"/>
                <a:ea typeface="Calibri"/>
                <a:cs typeface="Calibri"/>
              </a:rPr>
              <a:t>the recomposed image. This could be addressed by using </a:t>
            </a:r>
            <a:r>
              <a:rPr lang="en-GB" sz="2400" dirty="0">
                <a:latin typeface="Calibri"/>
                <a:ea typeface="Calibri"/>
                <a:cs typeface="Calibri"/>
              </a:rPr>
              <a:t>inpainting to remove the original subjects from the image, leaving only the background before recomposing the new subjects.</a:t>
            </a:r>
            <a:br>
              <a:rPr lang="en-GB" sz="2400" dirty="0">
                <a:latin typeface="Calibri"/>
                <a:ea typeface="Calibri"/>
                <a:cs typeface="Calibri"/>
              </a:rPr>
            </a:br>
            <a:br>
              <a:rPr lang="en-GB" sz="2400" dirty="0">
                <a:latin typeface="Calibri"/>
                <a:ea typeface="Calibri"/>
                <a:cs typeface="Calibri"/>
              </a:rPr>
            </a:br>
            <a:endParaRPr lang="en-GB" sz="2400">
              <a:latin typeface="Calibri"/>
              <a:ea typeface="Calibri"/>
              <a:cs typeface="Calibri"/>
            </a:endParaRPr>
          </a:p>
          <a:p>
            <a:pPr algn="ctr"/>
            <a:endParaRPr lang="en-GB"/>
          </a:p>
        </p:txBody>
      </p:sp>
      <p:sp>
        <p:nvSpPr>
          <p:cNvPr id="2" name="TextBox 1">
            <a:extLst>
              <a:ext uri="{FF2B5EF4-FFF2-40B4-BE49-F238E27FC236}">
                <a16:creationId xmlns:a16="http://schemas.microsoft.com/office/drawing/2014/main" id="{39F3B9FF-84DE-965D-9754-1F471B7D7F34}"/>
              </a:ext>
            </a:extLst>
          </p:cNvPr>
          <p:cNvSpPr txBox="1"/>
          <p:nvPr/>
        </p:nvSpPr>
        <p:spPr>
          <a:xfrm>
            <a:off x="3896198" y="19208084"/>
            <a:ext cx="3128716" cy="369332"/>
          </a:xfrm>
          <a:prstGeom prst="rect">
            <a:avLst/>
          </a:prstGeom>
          <a:noFill/>
        </p:spPr>
        <p:txBody>
          <a:bodyPr wrap="square" rtlCol="0">
            <a:spAutoFit/>
          </a:bodyPr>
          <a:lstStyle/>
          <a:p>
            <a:r>
              <a:rPr lang="en-GB" dirty="0"/>
              <a:t>Remove subjects and </a:t>
            </a:r>
            <a:r>
              <a:rPr lang="en-GB" dirty="0" err="1"/>
              <a:t>inpaint</a:t>
            </a:r>
            <a:endParaRPr lang="en-GB" dirty="0"/>
          </a:p>
        </p:txBody>
      </p:sp>
      <p:pic>
        <p:nvPicPr>
          <p:cNvPr id="31" name="Picture 30">
            <a:extLst>
              <a:ext uri="{FF2B5EF4-FFF2-40B4-BE49-F238E27FC236}">
                <a16:creationId xmlns:a16="http://schemas.microsoft.com/office/drawing/2014/main" id="{A56EA178-52D2-CC0C-0318-346557F1D0B7}"/>
              </a:ext>
            </a:extLst>
          </p:cNvPr>
          <p:cNvPicPr>
            <a:picLocks noChangeAspect="1"/>
          </p:cNvPicPr>
          <p:nvPr/>
        </p:nvPicPr>
        <p:blipFill>
          <a:blip r:embed="rId8"/>
          <a:stretch>
            <a:fillRect/>
          </a:stretch>
        </p:blipFill>
        <p:spPr>
          <a:xfrm>
            <a:off x="1049865" y="14415709"/>
            <a:ext cx="8821381" cy="4906060"/>
          </a:xfrm>
          <a:prstGeom prst="rect">
            <a:avLst/>
          </a:prstGeom>
        </p:spPr>
      </p:pic>
      <p:pic>
        <p:nvPicPr>
          <p:cNvPr id="33" name="Picture 32">
            <a:extLst>
              <a:ext uri="{FF2B5EF4-FFF2-40B4-BE49-F238E27FC236}">
                <a16:creationId xmlns:a16="http://schemas.microsoft.com/office/drawing/2014/main" id="{5A3F611C-3C01-ED79-08E9-B8827F6227D1}"/>
              </a:ext>
            </a:extLst>
          </p:cNvPr>
          <p:cNvPicPr>
            <a:picLocks noChangeAspect="1"/>
          </p:cNvPicPr>
          <p:nvPr/>
        </p:nvPicPr>
        <p:blipFill>
          <a:blip r:embed="rId9">
            <a:extLst>
              <a:ext uri="{28A0092B-C50C-407E-A947-70E740481C1C}">
                <a14:useLocalDpi xmlns:a14="http://schemas.microsoft.com/office/drawing/2010/main" val="0"/>
              </a:ext>
            </a:extLst>
          </a:blip>
          <a:srcRect l="9035" t="6100" r="6860" b="5850"/>
          <a:stretch>
            <a:fillRect/>
          </a:stretch>
        </p:blipFill>
        <p:spPr>
          <a:xfrm>
            <a:off x="15966955" y="12272563"/>
            <a:ext cx="4943004" cy="4572918"/>
          </a:xfrm>
          <a:prstGeom prst="rect">
            <a:avLst/>
          </a:prstGeom>
        </p:spPr>
      </p:pic>
      <p:sp>
        <p:nvSpPr>
          <p:cNvPr id="13" name="TextBox 12">
            <a:extLst>
              <a:ext uri="{FF2B5EF4-FFF2-40B4-BE49-F238E27FC236}">
                <a16:creationId xmlns:a16="http://schemas.microsoft.com/office/drawing/2014/main" id="{3AA79636-22EC-CDA2-4971-FC14D6D29E94}"/>
              </a:ext>
            </a:extLst>
          </p:cNvPr>
          <p:cNvSpPr txBox="1"/>
          <p:nvPr/>
        </p:nvSpPr>
        <p:spPr>
          <a:xfrm>
            <a:off x="11251642" y="8641899"/>
            <a:ext cx="9723495" cy="3785652"/>
          </a:xfrm>
          <a:prstGeom prst="rect">
            <a:avLst/>
          </a:prstGeom>
          <a:noFill/>
        </p:spPr>
        <p:txBody>
          <a:bodyPr wrap="square" lIns="91440" tIns="45720" rIns="91440" bIns="45720" rtlCol="0" anchor="t">
            <a:spAutoFit/>
          </a:bodyPr>
          <a:lstStyle/>
          <a:p>
            <a:r>
              <a:rPr lang="en-GB" sz="2400" dirty="0"/>
              <a:t>From the above input photos, the original pipeline produced the image on the left. Only one subject has his clothing swapped, and the surrounding people are corrupted by this process.</a:t>
            </a:r>
          </a:p>
          <a:p>
            <a:endParaRPr lang="en-GB" sz="2400" dirty="0"/>
          </a:p>
          <a:p>
            <a:r>
              <a:rPr lang="en-GB" sz="2400" dirty="0"/>
              <a:t>Our pipeline resolves these two issues, producing the image on the right. This successfully swaps the clothing for all 4 individuals while preventing the corruption in the original pipeline. However, some artifacts appear.</a:t>
            </a:r>
          </a:p>
          <a:p>
            <a:endParaRPr lang="en-GB" sz="2400" dirty="0"/>
          </a:p>
          <a:p>
            <a:r>
              <a:rPr lang="en-GB" sz="2400" dirty="0"/>
              <a:t>For example, the man on the left’s arms are incorrectly rendered. This is due to the segmentation model incorrectly removing part of his arm.</a:t>
            </a:r>
          </a:p>
        </p:txBody>
      </p:sp>
    </p:spTree>
    <p:extLst>
      <p:ext uri="{BB962C8B-B14F-4D97-AF65-F5344CB8AC3E}">
        <p14:creationId xmlns:p14="http://schemas.microsoft.com/office/powerpoint/2010/main" val="255755212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126</TotalTime>
  <Words>740</Words>
  <Application>Microsoft Office PowerPoint</Application>
  <PresentationFormat>Custom</PresentationFormat>
  <Paragraphs>29</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Fedorov, Boris O</dc:creator>
  <cp:lastModifiedBy>Poh, Francois</cp:lastModifiedBy>
  <cp:revision>380</cp:revision>
  <dcterms:created xsi:type="dcterms:W3CDTF">2026-02-22T11:37:27Z</dcterms:created>
  <dcterms:modified xsi:type="dcterms:W3CDTF">2026-03-04T22:25:23Z</dcterms:modified>
</cp:coreProperties>
</file>