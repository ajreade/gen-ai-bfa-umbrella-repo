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55DA"/>
    <a:srgbClr val="572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170" y="-1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684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46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36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67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712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99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46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186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448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32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C2A36-4833-4F94-98C9-9A04AFB6601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32573-B97D-47F7-A573-C59CD87E21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80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20FA2E-AD0D-BBD0-754F-FB77974732BD}"/>
              </a:ext>
            </a:extLst>
          </p:cNvPr>
          <p:cNvSpPr/>
          <p:nvPr/>
        </p:nvSpPr>
        <p:spPr>
          <a:xfrm>
            <a:off x="437469" y="261257"/>
            <a:ext cx="20508686" cy="2743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7294BDE-F830-B89E-3640-70F7BBFD23A4}"/>
              </a:ext>
            </a:extLst>
          </p:cNvPr>
          <p:cNvGrpSpPr/>
          <p:nvPr/>
        </p:nvGrpSpPr>
        <p:grpSpPr>
          <a:xfrm>
            <a:off x="566057" y="3657600"/>
            <a:ext cx="9056914" cy="6662057"/>
            <a:chOff x="566057" y="3657600"/>
            <a:chExt cx="9056914" cy="666205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332996E-1F5E-7F96-F337-2A612FCCA8A5}"/>
                </a:ext>
              </a:extLst>
            </p:cNvPr>
            <p:cNvSpPr/>
            <p:nvPr/>
          </p:nvSpPr>
          <p:spPr>
            <a:xfrm>
              <a:off x="566057" y="3657600"/>
              <a:ext cx="9056914" cy="66620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094348-13B3-024D-E49B-4723D28223DC}"/>
                </a:ext>
              </a:extLst>
            </p:cNvPr>
            <p:cNvSpPr/>
            <p:nvPr/>
          </p:nvSpPr>
          <p:spPr>
            <a:xfrm>
              <a:off x="566057" y="3657600"/>
              <a:ext cx="9056914" cy="1262743"/>
            </a:xfrm>
            <a:prstGeom prst="rect">
              <a:avLst/>
            </a:prstGeom>
            <a:solidFill>
              <a:srgbClr val="3A55D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200" b="1" dirty="0"/>
                <a:t>Introduction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7C9870C-3BD8-14B6-5F59-43D11A746671}"/>
              </a:ext>
            </a:extLst>
          </p:cNvPr>
          <p:cNvGrpSpPr/>
          <p:nvPr/>
        </p:nvGrpSpPr>
        <p:grpSpPr>
          <a:xfrm>
            <a:off x="562439" y="10410371"/>
            <a:ext cx="9056914" cy="12635771"/>
            <a:chOff x="566057" y="3657600"/>
            <a:chExt cx="9056914" cy="666205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63E9653-A4DA-7AA8-A5BD-EE4C4BCCF015}"/>
                </a:ext>
              </a:extLst>
            </p:cNvPr>
            <p:cNvSpPr/>
            <p:nvPr/>
          </p:nvSpPr>
          <p:spPr>
            <a:xfrm>
              <a:off x="566057" y="3657600"/>
              <a:ext cx="9056914" cy="66620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38F8B-0CB1-0A10-6B07-88C4B37DE5D6}"/>
                </a:ext>
              </a:extLst>
            </p:cNvPr>
            <p:cNvSpPr/>
            <p:nvPr/>
          </p:nvSpPr>
          <p:spPr>
            <a:xfrm>
              <a:off x="566057" y="3657600"/>
              <a:ext cx="9056914" cy="622555"/>
            </a:xfrm>
            <a:prstGeom prst="rect">
              <a:avLst/>
            </a:prstGeom>
            <a:solidFill>
              <a:srgbClr val="3A55D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200" b="1" dirty="0"/>
                <a:t>Methodology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9E68CF-8E9F-8034-2A99-BC1B6B379D98}"/>
              </a:ext>
            </a:extLst>
          </p:cNvPr>
          <p:cNvGrpSpPr/>
          <p:nvPr/>
        </p:nvGrpSpPr>
        <p:grpSpPr>
          <a:xfrm>
            <a:off x="11085290" y="3555999"/>
            <a:ext cx="9056914" cy="14030042"/>
            <a:chOff x="566057" y="3657600"/>
            <a:chExt cx="9056914" cy="666205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7715BD8-E477-0334-81EB-AAB73824E137}"/>
                </a:ext>
              </a:extLst>
            </p:cNvPr>
            <p:cNvSpPr/>
            <p:nvPr/>
          </p:nvSpPr>
          <p:spPr>
            <a:xfrm>
              <a:off x="566057" y="3657600"/>
              <a:ext cx="9056914" cy="66620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7EC1978-E946-6E2C-76DC-8532A7F6540C}"/>
                </a:ext>
              </a:extLst>
            </p:cNvPr>
            <p:cNvSpPr/>
            <p:nvPr/>
          </p:nvSpPr>
          <p:spPr>
            <a:xfrm>
              <a:off x="566057" y="3657600"/>
              <a:ext cx="9056914" cy="645074"/>
            </a:xfrm>
            <a:prstGeom prst="rect">
              <a:avLst/>
            </a:prstGeom>
            <a:solidFill>
              <a:srgbClr val="3A55D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200" b="1" dirty="0"/>
                <a:t>Results 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43FE69-CA85-0277-C95D-1FB207055131}"/>
              </a:ext>
            </a:extLst>
          </p:cNvPr>
          <p:cNvGrpSpPr/>
          <p:nvPr/>
        </p:nvGrpSpPr>
        <p:grpSpPr>
          <a:xfrm>
            <a:off x="213360" y="26181318"/>
            <a:ext cx="20251787" cy="3728275"/>
            <a:chOff x="566057" y="2699656"/>
            <a:chExt cx="9056914" cy="762000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8765F2-80B1-AEBD-E0E8-98297499869B}"/>
                </a:ext>
              </a:extLst>
            </p:cNvPr>
            <p:cNvSpPr/>
            <p:nvPr/>
          </p:nvSpPr>
          <p:spPr>
            <a:xfrm>
              <a:off x="566057" y="3657600"/>
              <a:ext cx="9056914" cy="66620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E29C302-4557-B8A9-B610-B255806BCB62}"/>
                </a:ext>
              </a:extLst>
            </p:cNvPr>
            <p:cNvSpPr/>
            <p:nvPr/>
          </p:nvSpPr>
          <p:spPr>
            <a:xfrm>
              <a:off x="566057" y="2699656"/>
              <a:ext cx="9056914" cy="2220689"/>
            </a:xfrm>
            <a:prstGeom prst="rect">
              <a:avLst/>
            </a:prstGeom>
            <a:solidFill>
              <a:srgbClr val="3A55D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200" b="1" dirty="0"/>
                <a:t>Conclusion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541847-37E2-EC98-7C2B-A05FC840BB4F}"/>
              </a:ext>
            </a:extLst>
          </p:cNvPr>
          <p:cNvGrpSpPr/>
          <p:nvPr/>
        </p:nvGrpSpPr>
        <p:grpSpPr>
          <a:xfrm>
            <a:off x="484060" y="23290662"/>
            <a:ext cx="9391460" cy="2230168"/>
            <a:chOff x="566057" y="2699656"/>
            <a:chExt cx="9056914" cy="762000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F895974-161E-0FE5-B468-96F8AE528C8D}"/>
                </a:ext>
              </a:extLst>
            </p:cNvPr>
            <p:cNvSpPr/>
            <p:nvPr/>
          </p:nvSpPr>
          <p:spPr>
            <a:xfrm>
              <a:off x="566057" y="3657600"/>
              <a:ext cx="9056914" cy="66620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111769E-FF9D-F727-2F94-311F37961162}"/>
                </a:ext>
              </a:extLst>
            </p:cNvPr>
            <p:cNvSpPr/>
            <p:nvPr/>
          </p:nvSpPr>
          <p:spPr>
            <a:xfrm>
              <a:off x="566057" y="2699656"/>
              <a:ext cx="9056914" cy="2220689"/>
            </a:xfrm>
            <a:prstGeom prst="rect">
              <a:avLst/>
            </a:prstGeom>
            <a:solidFill>
              <a:srgbClr val="3A55D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5400" b="1" dirty="0"/>
                <a:t>References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D6262C9-A07D-63F9-0131-82EC0825FA10}"/>
              </a:ext>
            </a:extLst>
          </p:cNvPr>
          <p:cNvSpPr txBox="1"/>
          <p:nvPr/>
        </p:nvSpPr>
        <p:spPr>
          <a:xfrm>
            <a:off x="740226" y="5134854"/>
            <a:ext cx="85779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Online clothing shopping  companies currently must spend a lot to take a lot of photos of the same person in the same pose wearing different cloths. Trying to automate this process with traditional image editing or template-based try-on approaches struggle to generalise across body poses, garment styles, and lighting conditions. </a:t>
            </a:r>
          </a:p>
          <a:p>
            <a:endParaRPr lang="en-GB" sz="2400" dirty="0"/>
          </a:p>
          <a:p>
            <a:r>
              <a:rPr lang="en-GB" sz="2400" dirty="0"/>
              <a:t>With recent advances in diffusion models that allow for high-quality image generation while preserving realism and structural integrity. Our goal is to explore whether a pre-trained diffusion-based model can be adapted into a usable, interactive virtual try-on system suitable for real-world deployment.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18EE71F-B4D0-5186-836C-6DA35F7C67F0}"/>
              </a:ext>
            </a:extLst>
          </p:cNvPr>
          <p:cNvGrpSpPr/>
          <p:nvPr/>
        </p:nvGrpSpPr>
        <p:grpSpPr>
          <a:xfrm>
            <a:off x="11027239" y="17859359"/>
            <a:ext cx="9056914" cy="8048641"/>
            <a:chOff x="566057" y="3657600"/>
            <a:chExt cx="9056914" cy="666205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A4B7F53-929B-EB10-3D44-E62E5741EEF8}"/>
                </a:ext>
              </a:extLst>
            </p:cNvPr>
            <p:cNvSpPr/>
            <p:nvPr/>
          </p:nvSpPr>
          <p:spPr>
            <a:xfrm>
              <a:off x="566057" y="3657600"/>
              <a:ext cx="9056914" cy="66620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09A23DE-0BF2-3666-9261-84ACD2773662}"/>
                </a:ext>
              </a:extLst>
            </p:cNvPr>
            <p:cNvSpPr/>
            <p:nvPr/>
          </p:nvSpPr>
          <p:spPr>
            <a:xfrm>
              <a:off x="566057" y="3657600"/>
              <a:ext cx="9056914" cy="1262743"/>
            </a:xfrm>
            <a:prstGeom prst="rect">
              <a:avLst/>
            </a:prstGeom>
            <a:solidFill>
              <a:srgbClr val="3A55D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200" b="1" dirty="0"/>
                <a:t>Discussion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F3D5473-B077-B94D-B30D-F86CD29B4CD9}"/>
              </a:ext>
            </a:extLst>
          </p:cNvPr>
          <p:cNvSpPr txBox="1"/>
          <p:nvPr/>
        </p:nvSpPr>
        <p:spPr>
          <a:xfrm>
            <a:off x="740226" y="11845744"/>
            <a:ext cx="857794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							</a:t>
            </a:r>
            <a:r>
              <a:rPr lang="en-GB" sz="2400" b="1" u="sng" dirty="0"/>
              <a:t>Model</a:t>
            </a:r>
          </a:p>
          <a:p>
            <a:r>
              <a:rPr lang="en-GB" sz="2400" dirty="0"/>
              <a:t>We use a pre-trained diffusion-based virtual try-on pipeline that performs conditional image generation. The model is conditioned on person appearance, garment appearance and clothing category. The diffusion process refines noise into a photo realistic image, aligning the garment to the person’s pose and body shape.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b="1" dirty="0"/>
              <a:t>						</a:t>
            </a:r>
            <a:r>
              <a:rPr lang="en-GB" sz="2400" b="1" u="sng" dirty="0"/>
              <a:t>Inference Pipeline</a:t>
            </a:r>
          </a:p>
          <a:p>
            <a:endParaRPr lang="en-GB" dirty="0"/>
          </a:p>
        </p:txBody>
      </p:sp>
      <p:pic>
        <p:nvPicPr>
          <p:cNvPr id="42" name="Picture 41" descr="A diagram of a process&#10;&#10;AI-generated content may be incorrect.">
            <a:extLst>
              <a:ext uri="{FF2B5EF4-FFF2-40B4-BE49-F238E27FC236}">
                <a16:creationId xmlns:a16="http://schemas.microsoft.com/office/drawing/2014/main" id="{D8370B98-6372-D93E-F6C6-B3550B9DF1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32" r="3085"/>
          <a:stretch>
            <a:fillRect/>
          </a:stretch>
        </p:blipFill>
        <p:spPr>
          <a:xfrm>
            <a:off x="670560" y="15711865"/>
            <a:ext cx="8864066" cy="6918309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6B4FE55D-EBEF-DD68-90CE-CFD5C840E2B9}"/>
              </a:ext>
            </a:extLst>
          </p:cNvPr>
          <p:cNvSpPr/>
          <p:nvPr/>
        </p:nvSpPr>
        <p:spPr>
          <a:xfrm>
            <a:off x="437468" y="233334"/>
            <a:ext cx="20508685" cy="2743199"/>
          </a:xfrm>
          <a:prstGeom prst="rect">
            <a:avLst/>
          </a:prstGeom>
          <a:solidFill>
            <a:srgbClr val="3A55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/>
              <a:t>Virtual Try-On System</a:t>
            </a:r>
          </a:p>
          <a:p>
            <a:pPr algn="ctr"/>
            <a:r>
              <a:rPr lang="en-GB" sz="2400" dirty="0"/>
              <a:t>By Francois Poh, Alexander Reade and Bortis Fedorov</a:t>
            </a:r>
          </a:p>
        </p:txBody>
      </p:sp>
    </p:spTree>
    <p:extLst>
      <p:ext uri="{BB962C8B-B14F-4D97-AF65-F5344CB8AC3E}">
        <p14:creationId xmlns:p14="http://schemas.microsoft.com/office/powerpoint/2010/main" val="2557552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183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Fedorov, Boris O</dc:creator>
  <cp:lastModifiedBy>Fedorov, Boris O</cp:lastModifiedBy>
  <cp:revision>1</cp:revision>
  <dcterms:created xsi:type="dcterms:W3CDTF">2026-02-22T11:37:27Z</dcterms:created>
  <dcterms:modified xsi:type="dcterms:W3CDTF">2026-02-22T13:11:51Z</dcterms:modified>
</cp:coreProperties>
</file>